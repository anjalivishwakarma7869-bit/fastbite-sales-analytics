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P LAPTOP" userId="7e639c14c15ab121" providerId="LiveId" clId="{5A55682D-132A-4DF0-93A4-4531EEFEC972}"/>
    <pc:docChg chg="undo custSel modSld">
      <pc:chgData name="HP LAPTOP" userId="7e639c14c15ab121" providerId="LiveId" clId="{5A55682D-132A-4DF0-93A4-4531EEFEC972}" dt="2026-06-21T17:14:21.041" v="102" actId="14100"/>
      <pc:docMkLst>
        <pc:docMk/>
      </pc:docMkLst>
      <pc:sldChg chg="modSp mod">
        <pc:chgData name="HP LAPTOP" userId="7e639c14c15ab121" providerId="LiveId" clId="{5A55682D-132A-4DF0-93A4-4531EEFEC972}" dt="2026-06-21T17:13:58.999" v="100" actId="404"/>
        <pc:sldMkLst>
          <pc:docMk/>
          <pc:sldMk cId="3707712020" sldId="258"/>
        </pc:sldMkLst>
        <pc:spChg chg="mod">
          <ac:chgData name="HP LAPTOP" userId="7e639c14c15ab121" providerId="LiveId" clId="{5A55682D-132A-4DF0-93A4-4531EEFEC972}" dt="2026-06-21T17:13:58.999" v="100" actId="404"/>
          <ac:spMkLst>
            <pc:docMk/>
            <pc:sldMk cId="3707712020" sldId="258"/>
            <ac:spMk id="3" creationId="{AD848447-62AB-5269-134F-D7A20FEAFCD8}"/>
          </ac:spMkLst>
        </pc:spChg>
      </pc:sldChg>
      <pc:sldChg chg="modSp mod">
        <pc:chgData name="HP LAPTOP" userId="7e639c14c15ab121" providerId="LiveId" clId="{5A55682D-132A-4DF0-93A4-4531EEFEC972}" dt="2026-06-21T17:14:21.041" v="102" actId="14100"/>
        <pc:sldMkLst>
          <pc:docMk/>
          <pc:sldMk cId="2387212787" sldId="259"/>
        </pc:sldMkLst>
        <pc:spChg chg="mod">
          <ac:chgData name="HP LAPTOP" userId="7e639c14c15ab121" providerId="LiveId" clId="{5A55682D-132A-4DF0-93A4-4531EEFEC972}" dt="2026-06-21T17:14:21.041" v="102" actId="14100"/>
          <ac:spMkLst>
            <pc:docMk/>
            <pc:sldMk cId="2387212787" sldId="259"/>
            <ac:spMk id="3" creationId="{4FEE85A1-B8F2-72D1-65E2-76E14E9E2E39}"/>
          </ac:spMkLst>
        </pc:spChg>
      </pc:sldChg>
      <pc:sldChg chg="modSp mod">
        <pc:chgData name="HP LAPTOP" userId="7e639c14c15ab121" providerId="LiveId" clId="{5A55682D-132A-4DF0-93A4-4531EEFEC972}" dt="2026-06-21T17:11:17.945" v="74" actId="14100"/>
        <pc:sldMkLst>
          <pc:docMk/>
          <pc:sldMk cId="776618723" sldId="260"/>
        </pc:sldMkLst>
        <pc:spChg chg="mod">
          <ac:chgData name="HP LAPTOP" userId="7e639c14c15ab121" providerId="LiveId" clId="{5A55682D-132A-4DF0-93A4-4531EEFEC972}" dt="2026-06-21T17:11:17.945" v="74" actId="14100"/>
          <ac:spMkLst>
            <pc:docMk/>
            <pc:sldMk cId="776618723" sldId="260"/>
            <ac:spMk id="3" creationId="{D95B284F-3DA2-BFDF-8B11-713B4B79EA28}"/>
          </ac:spMkLst>
        </pc:spChg>
      </pc:sldChg>
      <pc:sldChg chg="modSp mod">
        <pc:chgData name="HP LAPTOP" userId="7e639c14c15ab121" providerId="LiveId" clId="{5A55682D-132A-4DF0-93A4-4531EEFEC972}" dt="2026-06-21T17:11:38.338" v="77" actId="14100"/>
        <pc:sldMkLst>
          <pc:docMk/>
          <pc:sldMk cId="2236985060" sldId="261"/>
        </pc:sldMkLst>
        <pc:spChg chg="mod">
          <ac:chgData name="HP LAPTOP" userId="7e639c14c15ab121" providerId="LiveId" clId="{5A55682D-132A-4DF0-93A4-4531EEFEC972}" dt="2026-06-21T17:11:38.338" v="77" actId="14100"/>
          <ac:spMkLst>
            <pc:docMk/>
            <pc:sldMk cId="2236985060" sldId="261"/>
            <ac:spMk id="3" creationId="{EA80D17B-09E8-CA00-A82D-63BA219FD1A5}"/>
          </ac:spMkLst>
        </pc:spChg>
      </pc:sldChg>
      <pc:sldChg chg="modSp mod">
        <pc:chgData name="HP LAPTOP" userId="7e639c14c15ab121" providerId="LiveId" clId="{5A55682D-132A-4DF0-93A4-4531EEFEC972}" dt="2026-06-21T17:11:53.235" v="79" actId="14100"/>
        <pc:sldMkLst>
          <pc:docMk/>
          <pc:sldMk cId="3306125624" sldId="262"/>
        </pc:sldMkLst>
        <pc:spChg chg="mod">
          <ac:chgData name="HP LAPTOP" userId="7e639c14c15ab121" providerId="LiveId" clId="{5A55682D-132A-4DF0-93A4-4531EEFEC972}" dt="2026-06-21T17:11:53.235" v="79" actId="14100"/>
          <ac:spMkLst>
            <pc:docMk/>
            <pc:sldMk cId="3306125624" sldId="262"/>
            <ac:spMk id="3" creationId="{8E9DF63A-4CBA-AD72-8EFC-236B65C2312F}"/>
          </ac:spMkLst>
        </pc:spChg>
      </pc:sldChg>
      <pc:sldChg chg="modSp mod">
        <pc:chgData name="HP LAPTOP" userId="7e639c14c15ab121" providerId="LiveId" clId="{5A55682D-132A-4DF0-93A4-4531EEFEC972}" dt="2026-06-21T17:12:09.127" v="81" actId="14100"/>
        <pc:sldMkLst>
          <pc:docMk/>
          <pc:sldMk cId="2933942102" sldId="263"/>
        </pc:sldMkLst>
        <pc:spChg chg="mod">
          <ac:chgData name="HP LAPTOP" userId="7e639c14c15ab121" providerId="LiveId" clId="{5A55682D-132A-4DF0-93A4-4531EEFEC972}" dt="2026-06-21T17:12:09.127" v="81" actId="14100"/>
          <ac:spMkLst>
            <pc:docMk/>
            <pc:sldMk cId="2933942102" sldId="263"/>
            <ac:spMk id="3" creationId="{40770E06-5F19-2B58-7148-D59D6C06A2D6}"/>
          </ac:spMkLst>
        </pc:spChg>
      </pc:sldChg>
      <pc:sldChg chg="modSp mod">
        <pc:chgData name="HP LAPTOP" userId="7e639c14c15ab121" providerId="LiveId" clId="{5A55682D-132A-4DF0-93A4-4531EEFEC972}" dt="2026-06-21T17:12:21.044" v="82" actId="14100"/>
        <pc:sldMkLst>
          <pc:docMk/>
          <pc:sldMk cId="932824960" sldId="264"/>
        </pc:sldMkLst>
        <pc:spChg chg="mod">
          <ac:chgData name="HP LAPTOP" userId="7e639c14c15ab121" providerId="LiveId" clId="{5A55682D-132A-4DF0-93A4-4531EEFEC972}" dt="2026-06-21T17:12:21.044" v="82" actId="14100"/>
          <ac:spMkLst>
            <pc:docMk/>
            <pc:sldMk cId="932824960" sldId="264"/>
            <ac:spMk id="3" creationId="{299865EB-27DD-7823-2533-479BAA79A6F3}"/>
          </ac:spMkLst>
        </pc:spChg>
      </pc:sldChg>
      <pc:sldChg chg="addSp delSp modSp mod">
        <pc:chgData name="HP LAPTOP" userId="7e639c14c15ab121" providerId="LiveId" clId="{5A55682D-132A-4DF0-93A4-4531EEFEC972}" dt="2026-06-21T17:12:33.591" v="84" actId="14100"/>
        <pc:sldMkLst>
          <pc:docMk/>
          <pc:sldMk cId="1664090986" sldId="265"/>
        </pc:sldMkLst>
        <pc:spChg chg="add del">
          <ac:chgData name="HP LAPTOP" userId="7e639c14c15ab121" providerId="LiveId" clId="{5A55682D-132A-4DF0-93A4-4531EEFEC972}" dt="2026-06-21T17:04:51.609" v="27" actId="22"/>
          <ac:spMkLst>
            <pc:docMk/>
            <pc:sldMk cId="1664090986" sldId="265"/>
            <ac:spMk id="3" creationId="{E0AD8EFC-C25B-2FDD-8317-7A09B7D3FD01}"/>
          </ac:spMkLst>
        </pc:spChg>
        <pc:spChg chg="mod">
          <ac:chgData name="HP LAPTOP" userId="7e639c14c15ab121" providerId="LiveId" clId="{5A55682D-132A-4DF0-93A4-4531EEFEC972}" dt="2026-06-21T17:12:33.591" v="84" actId="14100"/>
          <ac:spMkLst>
            <pc:docMk/>
            <pc:sldMk cId="1664090986" sldId="265"/>
            <ac:spMk id="6" creationId="{ADAA9E5E-E7EA-E183-368B-97AFF78D68F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2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493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37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59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78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434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78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25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3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02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907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2217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299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162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751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77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14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FD831CB-8A3A-472A-A182-94122B26A15A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B6468-1050-4D13-85D4-0D5CE7C1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935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E2C23A-AD5E-C177-D587-0ADEBC1390D6}"/>
              </a:ext>
            </a:extLst>
          </p:cNvPr>
          <p:cNvSpPr txBox="1"/>
          <p:nvPr/>
        </p:nvSpPr>
        <p:spPr>
          <a:xfrm>
            <a:off x="1838633" y="335845"/>
            <a:ext cx="804278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Fast Food Restaurant Sales Analysis</a:t>
            </a:r>
            <a:endParaRPr lang="en-I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  <a:p>
            <a:endParaRPr lang="en-IN" sz="2800" b="1" dirty="0"/>
          </a:p>
          <a:p>
            <a:r>
              <a:rPr lang="en-IN" sz="2800" b="1" dirty="0"/>
              <a:t>Excel Dashboard Project</a:t>
            </a:r>
          </a:p>
          <a:p>
            <a:endParaRPr lang="en-IN" sz="2800" b="1" dirty="0"/>
          </a:p>
          <a:p>
            <a:r>
              <a:rPr lang="en-IN" sz="2800" b="1" dirty="0"/>
              <a:t>Prepared By: Anjali Vishwakarma</a:t>
            </a:r>
          </a:p>
          <a:p>
            <a:endParaRPr lang="en-IN" sz="2800" b="1" dirty="0"/>
          </a:p>
          <a:p>
            <a:r>
              <a:rPr lang="en-IN" sz="2800" b="1" dirty="0"/>
              <a:t>Tools Used:</a:t>
            </a:r>
          </a:p>
          <a:p>
            <a:r>
              <a:rPr lang="en-IN" sz="2800" b="1" dirty="0"/>
              <a:t>• Microsoft Excel</a:t>
            </a:r>
          </a:p>
          <a:p>
            <a:r>
              <a:rPr lang="en-IN" sz="2800" b="1" dirty="0"/>
              <a:t>• Pivot Tables</a:t>
            </a:r>
          </a:p>
          <a:p>
            <a:r>
              <a:rPr lang="en-IN" sz="2800" b="1" dirty="0"/>
              <a:t>• Pivot Charts</a:t>
            </a:r>
          </a:p>
          <a:p>
            <a:r>
              <a:rPr lang="en-IN" sz="2800" b="1" dirty="0"/>
              <a:t>• Dashboard Design</a:t>
            </a:r>
          </a:p>
          <a:p>
            <a:r>
              <a:rPr lang="en-IN" sz="2800" b="1" dirty="0"/>
              <a:t>• Data Analysis</a:t>
            </a:r>
          </a:p>
        </p:txBody>
      </p:sp>
    </p:spTree>
    <p:extLst>
      <p:ext uri="{BB962C8B-B14F-4D97-AF65-F5344CB8AC3E}">
        <p14:creationId xmlns:p14="http://schemas.microsoft.com/office/powerpoint/2010/main" val="4247943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09DBC4-CBEF-C2DE-FE8A-E0BE0E2B185B}"/>
              </a:ext>
            </a:extLst>
          </p:cNvPr>
          <p:cNvSpPr txBox="1"/>
          <p:nvPr/>
        </p:nvSpPr>
        <p:spPr>
          <a:xfrm>
            <a:off x="1160205" y="1030801"/>
            <a:ext cx="991091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/>
              <a:t> </a:t>
            </a:r>
            <a:r>
              <a:rPr lang="en-IN" sz="4000" dirty="0">
                <a:latin typeface="Algerian" panose="04020705040A02060702" pitchFamily="82" charset="0"/>
              </a:rPr>
              <a:t>Project Overview</a:t>
            </a:r>
            <a:endParaRPr lang="en-IN" sz="2000" dirty="0">
              <a:latin typeface="Algerian" panose="04020705040A02060702" pitchFamily="82" charset="0"/>
            </a:endParaRPr>
          </a:p>
          <a:p>
            <a:endParaRPr lang="en-IN" sz="2000" dirty="0"/>
          </a:p>
          <a:p>
            <a:r>
              <a:rPr lang="en-IN" sz="2000" dirty="0"/>
              <a:t>This project analyses 200 fast-food restaurant transactions to evaluate sales performance, customer purchasing behaviour, product profitability, and regional performance.</a:t>
            </a:r>
          </a:p>
          <a:p>
            <a:endParaRPr lang="en-IN" sz="2000" dirty="0"/>
          </a:p>
          <a:p>
            <a:r>
              <a:rPr lang="en-IN" sz="2000" dirty="0"/>
              <a:t>The dashboard converts raw transaction data into meaningful business insights that help management make data-driven decisions.</a:t>
            </a:r>
          </a:p>
          <a:p>
            <a:endParaRPr lang="en-IN" sz="2000" dirty="0"/>
          </a:p>
          <a:p>
            <a:r>
              <a:rPr lang="en-IN" sz="2000" dirty="0"/>
              <a:t>Project Objectives</a:t>
            </a:r>
          </a:p>
          <a:p>
            <a:endParaRPr lang="en-IN" sz="2000" dirty="0"/>
          </a:p>
          <a:p>
            <a:r>
              <a:rPr lang="en-IN" sz="2000" dirty="0"/>
              <a:t>• Identify top-selling products</a:t>
            </a:r>
          </a:p>
          <a:p>
            <a:r>
              <a:rPr lang="en-IN" sz="2000" dirty="0"/>
              <a:t>• Analyse regional performance</a:t>
            </a:r>
          </a:p>
          <a:p>
            <a:r>
              <a:rPr lang="en-IN" sz="2000" dirty="0"/>
              <a:t>• Evaluate profitability</a:t>
            </a:r>
          </a:p>
          <a:p>
            <a:r>
              <a:rPr lang="en-IN" sz="2000" dirty="0"/>
              <a:t>• Understand customer behaviour</a:t>
            </a:r>
          </a:p>
          <a:p>
            <a:r>
              <a:rPr lang="en-IN" sz="2000" dirty="0"/>
              <a:t>• Monitor sales trends</a:t>
            </a:r>
          </a:p>
        </p:txBody>
      </p:sp>
    </p:spTree>
    <p:extLst>
      <p:ext uri="{BB962C8B-B14F-4D97-AF65-F5344CB8AC3E}">
        <p14:creationId xmlns:p14="http://schemas.microsoft.com/office/powerpoint/2010/main" val="1384173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848447-62AB-5269-134F-D7A20FEAFCD8}"/>
              </a:ext>
            </a:extLst>
          </p:cNvPr>
          <p:cNvSpPr txBox="1"/>
          <p:nvPr/>
        </p:nvSpPr>
        <p:spPr>
          <a:xfrm>
            <a:off x="580103" y="570109"/>
            <a:ext cx="1103179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latin typeface="Algerian" panose="04020705040A02060702" pitchFamily="82" charset="0"/>
              </a:rPr>
              <a:t> Business Problem</a:t>
            </a:r>
          </a:p>
          <a:p>
            <a:endParaRPr lang="en-IN" sz="2000" dirty="0"/>
          </a:p>
          <a:p>
            <a:r>
              <a:rPr lang="en-IN" sz="2000" dirty="0"/>
              <a:t>The restaurant management wanted answers to the following questions:</a:t>
            </a:r>
          </a:p>
          <a:p>
            <a:endParaRPr lang="en-IN" sz="2000" dirty="0"/>
          </a:p>
          <a:p>
            <a:r>
              <a:rPr lang="en-IN" sz="2000" dirty="0"/>
              <a:t>• Which food items generate the highest sales?</a:t>
            </a:r>
          </a:p>
          <a:p>
            <a:r>
              <a:rPr lang="en-IN" sz="2000" dirty="0"/>
              <a:t>• Which region contributes the most profit?</a:t>
            </a:r>
          </a:p>
          <a:p>
            <a:r>
              <a:rPr lang="en-IN" sz="2000" dirty="0"/>
              <a:t>• Who are the most valuable customers?</a:t>
            </a:r>
          </a:p>
          <a:p>
            <a:r>
              <a:rPr lang="en-IN" sz="2000" dirty="0"/>
              <a:t>• How do discounts affect profitability?</a:t>
            </a:r>
          </a:p>
          <a:p>
            <a:r>
              <a:rPr lang="en-IN" sz="2000" dirty="0"/>
              <a:t>• What sales trends can be observed over time?</a:t>
            </a:r>
          </a:p>
          <a:p>
            <a:endParaRPr lang="en-IN" sz="2000" dirty="0"/>
          </a:p>
          <a:p>
            <a:r>
              <a:rPr lang="en-IN" sz="2000" dirty="0"/>
              <a:t>The objective was to transform transaction data into actionable business insights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771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EE85A1-B8F2-72D1-65E2-76E14E9E2E39}"/>
              </a:ext>
            </a:extLst>
          </p:cNvPr>
          <p:cNvSpPr txBox="1"/>
          <p:nvPr/>
        </p:nvSpPr>
        <p:spPr>
          <a:xfrm>
            <a:off x="406400" y="172720"/>
            <a:ext cx="1109472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 </a:t>
            </a:r>
            <a:r>
              <a:rPr lang="en-IN" sz="4000" dirty="0">
                <a:latin typeface="Algerian" panose="04020705040A02060702" pitchFamily="82" charset="0"/>
              </a:rPr>
              <a:t>Dataset Overview</a:t>
            </a:r>
            <a:endParaRPr lang="en-IN" dirty="0">
              <a:latin typeface="Algerian" panose="04020705040A02060702" pitchFamily="82" charset="0"/>
            </a:endParaRPr>
          </a:p>
          <a:p>
            <a:endParaRPr lang="en-IN" dirty="0"/>
          </a:p>
          <a:p>
            <a:r>
              <a:rPr lang="en-IN" dirty="0"/>
              <a:t>Dataset Information</a:t>
            </a:r>
          </a:p>
          <a:p>
            <a:endParaRPr lang="en-IN" dirty="0"/>
          </a:p>
          <a:p>
            <a:r>
              <a:rPr lang="en-IN" dirty="0"/>
              <a:t>• Total Records: 200</a:t>
            </a:r>
          </a:p>
          <a:p>
            <a:r>
              <a:rPr lang="en-IN" dirty="0"/>
              <a:t>• Time Period: January – March 2025</a:t>
            </a:r>
          </a:p>
          <a:p>
            <a:r>
              <a:rPr lang="en-IN" dirty="0"/>
              <a:t>• Regions: North, South, East, West</a:t>
            </a:r>
          </a:p>
          <a:p>
            <a:r>
              <a:rPr lang="en-IN" dirty="0"/>
              <a:t>• Food Items: 10</a:t>
            </a:r>
          </a:p>
          <a:p>
            <a:r>
              <a:rPr lang="en-IN" dirty="0"/>
              <a:t>• Metrics: Sales, Profit, Discount, Quantity</a:t>
            </a:r>
          </a:p>
          <a:p>
            <a:endParaRPr lang="en-IN" dirty="0"/>
          </a:p>
          <a:p>
            <a:r>
              <a:rPr lang="en-IN" dirty="0"/>
              <a:t>Columns Included</a:t>
            </a:r>
          </a:p>
          <a:p>
            <a:endParaRPr lang="en-IN" dirty="0"/>
          </a:p>
          <a:p>
            <a:r>
              <a:rPr lang="en-IN" dirty="0"/>
              <a:t>• Order ID</a:t>
            </a:r>
          </a:p>
          <a:p>
            <a:r>
              <a:rPr lang="en-IN" dirty="0"/>
              <a:t>• Date</a:t>
            </a:r>
          </a:p>
          <a:p>
            <a:r>
              <a:rPr lang="en-IN" dirty="0"/>
              <a:t>• Customer Name</a:t>
            </a:r>
          </a:p>
          <a:p>
            <a:r>
              <a:rPr lang="en-IN" dirty="0"/>
              <a:t>• Region</a:t>
            </a:r>
          </a:p>
          <a:p>
            <a:r>
              <a:rPr lang="en-IN" dirty="0"/>
              <a:t>• Item</a:t>
            </a:r>
          </a:p>
          <a:p>
            <a:r>
              <a:rPr lang="en-IN" dirty="0"/>
              <a:t>• Quantity</a:t>
            </a:r>
          </a:p>
          <a:p>
            <a:r>
              <a:rPr lang="en-IN" dirty="0"/>
              <a:t>• Unit Price</a:t>
            </a:r>
          </a:p>
          <a:p>
            <a:r>
              <a:rPr lang="en-IN" dirty="0"/>
              <a:t>• Total Amount</a:t>
            </a:r>
          </a:p>
          <a:p>
            <a:r>
              <a:rPr lang="en-IN" dirty="0"/>
              <a:t>• Discount</a:t>
            </a:r>
          </a:p>
          <a:p>
            <a:r>
              <a:rPr lang="en-IN" dirty="0"/>
              <a:t>• Profit</a:t>
            </a:r>
          </a:p>
        </p:txBody>
      </p:sp>
    </p:spTree>
    <p:extLst>
      <p:ext uri="{BB962C8B-B14F-4D97-AF65-F5344CB8AC3E}">
        <p14:creationId xmlns:p14="http://schemas.microsoft.com/office/powerpoint/2010/main" val="2387212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5B284F-3DA2-BFDF-8B11-713B4B79EA28}"/>
              </a:ext>
            </a:extLst>
          </p:cNvPr>
          <p:cNvSpPr txBox="1"/>
          <p:nvPr/>
        </p:nvSpPr>
        <p:spPr>
          <a:xfrm>
            <a:off x="335280" y="203200"/>
            <a:ext cx="11430000" cy="627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 </a:t>
            </a:r>
            <a:r>
              <a:rPr lang="en-IN" sz="3200" dirty="0">
                <a:latin typeface="Algerian" panose="04020705040A02060702" pitchFamily="82" charset="0"/>
              </a:rPr>
              <a:t>Data Analysis Process</a:t>
            </a:r>
            <a:endParaRPr lang="en-IN" sz="1600" dirty="0">
              <a:latin typeface="Algerian" panose="04020705040A02060702" pitchFamily="82" charset="0"/>
            </a:endParaRPr>
          </a:p>
          <a:p>
            <a:endParaRPr lang="en-IN" sz="1600" dirty="0"/>
          </a:p>
          <a:p>
            <a:r>
              <a:rPr lang="en-IN" sz="1600" dirty="0"/>
              <a:t>Step 1: Data Collection</a:t>
            </a:r>
          </a:p>
          <a:p>
            <a:r>
              <a:rPr lang="en-IN" sz="1600" dirty="0"/>
              <a:t>Collected restaurant transaction data containing sales, profit, customer, and product information.</a:t>
            </a:r>
          </a:p>
          <a:p>
            <a:endParaRPr lang="en-IN" sz="1600" dirty="0"/>
          </a:p>
          <a:p>
            <a:r>
              <a:rPr lang="en-IN" sz="1600" dirty="0"/>
              <a:t>Step 2: Data Cleaning</a:t>
            </a:r>
          </a:p>
          <a:p>
            <a:r>
              <a:rPr lang="en-IN" sz="1600" dirty="0"/>
              <a:t>• Removed inconsistencies</a:t>
            </a:r>
          </a:p>
          <a:p>
            <a:r>
              <a:rPr lang="en-IN" sz="1600" dirty="0"/>
              <a:t>• Checked missing values</a:t>
            </a:r>
          </a:p>
          <a:p>
            <a:r>
              <a:rPr lang="en-IN" sz="1600" dirty="0"/>
              <a:t>• Standardized data formats</a:t>
            </a:r>
          </a:p>
          <a:p>
            <a:r>
              <a:rPr lang="en-IN" sz="1600" dirty="0"/>
              <a:t>• Created Month and Year fields</a:t>
            </a:r>
          </a:p>
          <a:p>
            <a:endParaRPr lang="en-IN" sz="1600" dirty="0"/>
          </a:p>
          <a:p>
            <a:r>
              <a:rPr lang="en-IN" sz="1600" dirty="0"/>
              <a:t>Step 3: Data Analysis</a:t>
            </a:r>
          </a:p>
          <a:p>
            <a:r>
              <a:rPr lang="en-IN" sz="1600" dirty="0"/>
              <a:t>Created Pivot Tables for:</a:t>
            </a:r>
          </a:p>
          <a:p>
            <a:r>
              <a:rPr lang="en-IN" sz="1600" dirty="0"/>
              <a:t>• Sales Analysis</a:t>
            </a:r>
          </a:p>
          <a:p>
            <a:r>
              <a:rPr lang="en-IN" sz="1600" dirty="0"/>
              <a:t>• Profit Analysis</a:t>
            </a:r>
          </a:p>
          <a:p>
            <a:r>
              <a:rPr lang="en-IN" sz="1600" dirty="0"/>
              <a:t>• Customer Analysis</a:t>
            </a:r>
          </a:p>
          <a:p>
            <a:r>
              <a:rPr lang="en-IN" sz="1600" dirty="0"/>
              <a:t>• Regional Analysis</a:t>
            </a:r>
          </a:p>
          <a:p>
            <a:endParaRPr lang="en-IN" sz="1600" dirty="0"/>
          </a:p>
          <a:p>
            <a:r>
              <a:rPr lang="en-IN" sz="1600" dirty="0"/>
              <a:t>Step 4: Dashboard Development</a:t>
            </a:r>
          </a:p>
          <a:p>
            <a:r>
              <a:rPr lang="en-IN" sz="1600" dirty="0"/>
              <a:t>Built an interactive dashboard using:</a:t>
            </a:r>
          </a:p>
          <a:p>
            <a:r>
              <a:rPr lang="en-IN" sz="1600" dirty="0"/>
              <a:t>• Pivot Tables</a:t>
            </a:r>
          </a:p>
          <a:p>
            <a:r>
              <a:rPr lang="en-IN" sz="1600" dirty="0"/>
              <a:t>• Pivot Charts</a:t>
            </a:r>
          </a:p>
          <a:p>
            <a:r>
              <a:rPr lang="en-IN" sz="1600" dirty="0"/>
              <a:t>• KPI Cards</a:t>
            </a:r>
          </a:p>
          <a:p>
            <a:r>
              <a:rPr lang="en-IN" sz="1600" dirty="0"/>
              <a:t>• Slicers</a:t>
            </a:r>
          </a:p>
        </p:txBody>
      </p:sp>
    </p:spTree>
    <p:extLst>
      <p:ext uri="{BB962C8B-B14F-4D97-AF65-F5344CB8AC3E}">
        <p14:creationId xmlns:p14="http://schemas.microsoft.com/office/powerpoint/2010/main" val="77661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80D17B-09E8-CA00-A82D-63BA219FD1A5}"/>
              </a:ext>
            </a:extLst>
          </p:cNvPr>
          <p:cNvSpPr txBox="1"/>
          <p:nvPr/>
        </p:nvSpPr>
        <p:spPr>
          <a:xfrm>
            <a:off x="213360" y="314960"/>
            <a:ext cx="1159255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 </a:t>
            </a:r>
            <a:r>
              <a:rPr lang="en-IN" sz="2800" dirty="0">
                <a:latin typeface="Algerian" panose="04020705040A02060702" pitchFamily="82" charset="0"/>
              </a:rPr>
              <a:t>Key Performance Indicators (KPIs)</a:t>
            </a:r>
          </a:p>
          <a:p>
            <a:endParaRPr lang="en-IN" dirty="0"/>
          </a:p>
          <a:p>
            <a:r>
              <a:rPr lang="en-IN" dirty="0"/>
              <a:t>Total Sales</a:t>
            </a:r>
          </a:p>
          <a:p>
            <a:r>
              <a:rPr lang="en-IN" dirty="0"/>
              <a:t>₹83,420</a:t>
            </a:r>
          </a:p>
          <a:p>
            <a:endParaRPr lang="en-IN" dirty="0"/>
          </a:p>
          <a:p>
            <a:r>
              <a:rPr lang="en-IN" dirty="0"/>
              <a:t>Total Profit</a:t>
            </a:r>
          </a:p>
          <a:p>
            <a:r>
              <a:rPr lang="en-IN" dirty="0"/>
              <a:t>₹14,558.75</a:t>
            </a:r>
          </a:p>
          <a:p>
            <a:endParaRPr lang="en-IN" dirty="0"/>
          </a:p>
          <a:p>
            <a:r>
              <a:rPr lang="en-IN" dirty="0"/>
              <a:t>Total Orders</a:t>
            </a:r>
          </a:p>
          <a:p>
            <a:r>
              <a:rPr lang="en-IN" dirty="0"/>
              <a:t>200</a:t>
            </a:r>
          </a:p>
          <a:p>
            <a:endParaRPr lang="en-IN" dirty="0"/>
          </a:p>
          <a:p>
            <a:r>
              <a:rPr lang="en-IN" dirty="0"/>
              <a:t>Average Discount</a:t>
            </a:r>
          </a:p>
          <a:p>
            <a:r>
              <a:rPr lang="en-IN" dirty="0"/>
              <a:t>4.92%</a:t>
            </a:r>
          </a:p>
          <a:p>
            <a:endParaRPr lang="en-IN" dirty="0"/>
          </a:p>
          <a:p>
            <a:r>
              <a:rPr lang="en-IN" dirty="0"/>
              <a:t>Business Question</a:t>
            </a:r>
          </a:p>
          <a:p>
            <a:endParaRPr lang="en-IN" dirty="0"/>
          </a:p>
          <a:p>
            <a:r>
              <a:rPr lang="en-IN" dirty="0"/>
              <a:t>How is the overall business performing?</a:t>
            </a:r>
          </a:p>
        </p:txBody>
      </p:sp>
    </p:spTree>
    <p:extLst>
      <p:ext uri="{BB962C8B-B14F-4D97-AF65-F5344CB8AC3E}">
        <p14:creationId xmlns:p14="http://schemas.microsoft.com/office/powerpoint/2010/main" val="2236985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9DF63A-4CBA-AD72-8EFC-236B65C2312F}"/>
              </a:ext>
            </a:extLst>
          </p:cNvPr>
          <p:cNvSpPr txBox="1"/>
          <p:nvPr/>
        </p:nvSpPr>
        <p:spPr>
          <a:xfrm>
            <a:off x="314960" y="416560"/>
            <a:ext cx="11419839" cy="549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 </a:t>
            </a:r>
            <a:r>
              <a:rPr lang="en-IN" sz="3200" dirty="0">
                <a:latin typeface="Algerian" panose="04020705040A02060702" pitchFamily="82" charset="0"/>
              </a:rPr>
              <a:t>Dashboard Visualizations</a:t>
            </a:r>
            <a:endParaRPr lang="en-IN" dirty="0"/>
          </a:p>
          <a:p>
            <a:endParaRPr lang="en-IN" dirty="0"/>
          </a:p>
          <a:p>
            <a:r>
              <a:rPr lang="en-IN" dirty="0"/>
              <a:t>Dashboard Components</a:t>
            </a:r>
          </a:p>
          <a:p>
            <a:endParaRPr lang="en-IN" dirty="0"/>
          </a:p>
          <a:p>
            <a:r>
              <a:rPr lang="en-IN" dirty="0"/>
              <a:t>• Total Sales by Item</a:t>
            </a:r>
          </a:p>
          <a:p>
            <a:r>
              <a:rPr lang="en-IN" dirty="0"/>
              <a:t>  Identifies top-performing products.</a:t>
            </a:r>
          </a:p>
          <a:p>
            <a:endParaRPr lang="en-IN" dirty="0"/>
          </a:p>
          <a:p>
            <a:r>
              <a:rPr lang="en-IN" dirty="0"/>
              <a:t>• Profit by Region</a:t>
            </a:r>
          </a:p>
          <a:p>
            <a:r>
              <a:rPr lang="en-IN" dirty="0"/>
              <a:t>  Compares profitability across regions.</a:t>
            </a:r>
          </a:p>
          <a:p>
            <a:endParaRPr lang="en-IN" dirty="0"/>
          </a:p>
          <a:p>
            <a:r>
              <a:rPr lang="en-IN" dirty="0"/>
              <a:t>• Monthly Sales Trend</a:t>
            </a:r>
          </a:p>
          <a:p>
            <a:r>
              <a:rPr lang="en-IN" dirty="0"/>
              <a:t>  Tracks sales performance over time.</a:t>
            </a:r>
          </a:p>
          <a:p>
            <a:endParaRPr lang="en-IN" dirty="0"/>
          </a:p>
          <a:p>
            <a:r>
              <a:rPr lang="en-IN" dirty="0"/>
              <a:t>• Top Customers</a:t>
            </a:r>
          </a:p>
          <a:p>
            <a:r>
              <a:rPr lang="en-IN" dirty="0"/>
              <a:t>  Identifies customers contributing the highest revenue.</a:t>
            </a:r>
          </a:p>
          <a:p>
            <a:endParaRPr lang="en-IN" dirty="0"/>
          </a:p>
          <a:p>
            <a:r>
              <a:rPr lang="en-IN" dirty="0"/>
              <a:t>• Profit Share by Item</a:t>
            </a:r>
          </a:p>
          <a:p>
            <a:r>
              <a:rPr lang="en-IN" dirty="0"/>
              <a:t>  Measures profitability of each product category.</a:t>
            </a:r>
          </a:p>
        </p:txBody>
      </p:sp>
    </p:spTree>
    <p:extLst>
      <p:ext uri="{BB962C8B-B14F-4D97-AF65-F5344CB8AC3E}">
        <p14:creationId xmlns:p14="http://schemas.microsoft.com/office/powerpoint/2010/main" val="330612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770E06-5F19-2B58-7148-D59D6C06A2D6}"/>
              </a:ext>
            </a:extLst>
          </p:cNvPr>
          <p:cNvSpPr txBox="1"/>
          <p:nvPr/>
        </p:nvSpPr>
        <p:spPr>
          <a:xfrm>
            <a:off x="355600" y="365760"/>
            <a:ext cx="11501119" cy="5765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 </a:t>
            </a:r>
            <a:r>
              <a:rPr lang="en-IN" sz="3200" dirty="0">
                <a:latin typeface="Algerian" panose="04020705040A02060702" pitchFamily="82" charset="0"/>
              </a:rPr>
              <a:t>Key Insights</a:t>
            </a:r>
            <a:endParaRPr lang="en-IN" sz="1400" dirty="0">
              <a:latin typeface="Algerian" panose="04020705040A02060702" pitchFamily="82" charset="0"/>
            </a:endParaRPr>
          </a:p>
          <a:p>
            <a:endParaRPr lang="en-IN" sz="1600" dirty="0"/>
          </a:p>
          <a:p>
            <a:r>
              <a:rPr lang="en-IN" sz="1600" dirty="0"/>
              <a:t>Sales Insights</a:t>
            </a:r>
          </a:p>
          <a:p>
            <a:endParaRPr lang="en-IN" sz="1600" dirty="0"/>
          </a:p>
          <a:p>
            <a:r>
              <a:rPr lang="en-IN" sz="1600" dirty="0"/>
              <a:t>• Chicken Wings generated the highest sales revenue.</a:t>
            </a:r>
          </a:p>
          <a:p>
            <a:r>
              <a:rPr lang="en-IN" sz="1600" dirty="0"/>
              <a:t>• Pizza and Pasta were among the top-performing products.</a:t>
            </a:r>
          </a:p>
          <a:p>
            <a:r>
              <a:rPr lang="en-IN" sz="1600" dirty="0"/>
              <a:t>• Cold Drinks generated the lowest sales revenue.</a:t>
            </a:r>
          </a:p>
          <a:p>
            <a:endParaRPr lang="en-IN" sz="1600" dirty="0"/>
          </a:p>
          <a:p>
            <a:r>
              <a:rPr lang="en-IN" sz="1600" dirty="0"/>
              <a:t>Regional Insights</a:t>
            </a:r>
          </a:p>
          <a:p>
            <a:endParaRPr lang="en-IN" sz="1600" dirty="0"/>
          </a:p>
          <a:p>
            <a:r>
              <a:rPr lang="en-IN" sz="1600" dirty="0"/>
              <a:t>• East Region generated the highest profit.</a:t>
            </a:r>
          </a:p>
          <a:p>
            <a:r>
              <a:rPr lang="en-IN" sz="1600" dirty="0"/>
              <a:t>• South Region generated the lowest profit.</a:t>
            </a:r>
          </a:p>
          <a:p>
            <a:endParaRPr lang="en-IN" sz="1600" dirty="0"/>
          </a:p>
          <a:p>
            <a:r>
              <a:rPr lang="en-IN" sz="1600" dirty="0"/>
              <a:t>Customer Insights</a:t>
            </a:r>
          </a:p>
          <a:p>
            <a:endParaRPr lang="en-IN" sz="1600" dirty="0"/>
          </a:p>
          <a:p>
            <a:r>
              <a:rPr lang="en-IN" sz="1600" dirty="0"/>
              <a:t>• A small group of customers contributed a significant share of total sales.</a:t>
            </a:r>
          </a:p>
          <a:p>
            <a:r>
              <a:rPr lang="en-IN" sz="1600" dirty="0"/>
              <a:t>• Repeat customers generated higher revenue.</a:t>
            </a:r>
          </a:p>
          <a:p>
            <a:endParaRPr lang="en-IN" sz="1600" dirty="0"/>
          </a:p>
          <a:p>
            <a:r>
              <a:rPr lang="en-IN" sz="1600" dirty="0"/>
              <a:t>Discount Insights</a:t>
            </a:r>
          </a:p>
          <a:p>
            <a:endParaRPr lang="en-IN" sz="1600" dirty="0"/>
          </a:p>
          <a:p>
            <a:r>
              <a:rPr lang="en-IN" sz="1600" dirty="0"/>
              <a:t>• Average discount offered was approximately 5%.</a:t>
            </a:r>
          </a:p>
          <a:p>
            <a:r>
              <a:rPr lang="en-IN" sz="1600" dirty="0"/>
              <a:t>• Higher discounts reduced profit margins.</a:t>
            </a:r>
          </a:p>
        </p:txBody>
      </p:sp>
    </p:spTree>
    <p:extLst>
      <p:ext uri="{BB962C8B-B14F-4D97-AF65-F5344CB8AC3E}">
        <p14:creationId xmlns:p14="http://schemas.microsoft.com/office/powerpoint/2010/main" val="2933942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9865EB-27DD-7823-2533-479BAA79A6F3}"/>
              </a:ext>
            </a:extLst>
          </p:cNvPr>
          <p:cNvSpPr txBox="1"/>
          <p:nvPr/>
        </p:nvSpPr>
        <p:spPr>
          <a:xfrm>
            <a:off x="447041" y="162560"/>
            <a:ext cx="11145192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Algerian" panose="04020705040A02060702" pitchFamily="82" charset="0"/>
              </a:rPr>
              <a:t> Recommendations</a:t>
            </a:r>
          </a:p>
          <a:p>
            <a:endParaRPr lang="en-IN" sz="1600" dirty="0"/>
          </a:p>
          <a:p>
            <a:r>
              <a:rPr lang="en-IN" sz="1600" dirty="0"/>
              <a:t>Product Strategy</a:t>
            </a:r>
          </a:p>
          <a:p>
            <a:endParaRPr lang="en-IN" sz="1600" dirty="0"/>
          </a:p>
          <a:p>
            <a:r>
              <a:rPr lang="en-IN" sz="1600" dirty="0"/>
              <a:t>• Promote Chicken Wings and Pizza through combo offers.</a:t>
            </a:r>
          </a:p>
          <a:p>
            <a:r>
              <a:rPr lang="en-IN" sz="1600" dirty="0"/>
              <a:t>• Increase marketing efforts for top-performing products.</a:t>
            </a:r>
          </a:p>
          <a:p>
            <a:endParaRPr lang="en-IN" sz="1600" dirty="0"/>
          </a:p>
          <a:p>
            <a:r>
              <a:rPr lang="en-IN" sz="1600" dirty="0"/>
              <a:t>Customer Retention</a:t>
            </a:r>
          </a:p>
          <a:p>
            <a:endParaRPr lang="en-IN" sz="1600" dirty="0"/>
          </a:p>
          <a:p>
            <a:r>
              <a:rPr lang="en-IN" sz="1600" dirty="0"/>
              <a:t>• Introduce loyalty programs for high-value customers.</a:t>
            </a:r>
          </a:p>
          <a:p>
            <a:r>
              <a:rPr lang="en-IN" sz="1600" dirty="0"/>
              <a:t>• Offer personalized discounts to repeat customers.</a:t>
            </a:r>
          </a:p>
          <a:p>
            <a:endParaRPr lang="en-IN" sz="1600" dirty="0"/>
          </a:p>
          <a:p>
            <a:r>
              <a:rPr lang="en-IN" sz="1600" dirty="0"/>
              <a:t>Profit Optimization</a:t>
            </a:r>
          </a:p>
          <a:p>
            <a:endParaRPr lang="en-IN" sz="1600" dirty="0"/>
          </a:p>
          <a:p>
            <a:r>
              <a:rPr lang="en-IN" sz="1600" dirty="0"/>
              <a:t>• Reduce excessive discounting.</a:t>
            </a:r>
          </a:p>
          <a:p>
            <a:r>
              <a:rPr lang="en-IN" sz="1600" dirty="0"/>
              <a:t>• Focus on high-margin menu items.</a:t>
            </a:r>
          </a:p>
          <a:p>
            <a:endParaRPr lang="en-IN" sz="1600" dirty="0"/>
          </a:p>
          <a:p>
            <a:r>
              <a:rPr lang="en-IN" sz="1600" dirty="0"/>
              <a:t>Regional Growth</a:t>
            </a:r>
          </a:p>
          <a:p>
            <a:endParaRPr lang="en-IN" sz="1600" dirty="0"/>
          </a:p>
          <a:p>
            <a:r>
              <a:rPr lang="en-IN" sz="1600" dirty="0"/>
              <a:t>• Analyse successful strategies used in the East region.</a:t>
            </a:r>
          </a:p>
          <a:p>
            <a:r>
              <a:rPr lang="en-IN" sz="1600" dirty="0"/>
              <a:t>• Apply similar approaches in other regions.</a:t>
            </a:r>
            <a:br>
              <a:rPr lang="en-IN" sz="1600" dirty="0"/>
            </a:br>
            <a:endParaRPr lang="en-IN" sz="1600" dirty="0"/>
          </a:p>
          <a:p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32824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DAA9E5E-E7EA-E183-368B-97AFF78D68F0}"/>
              </a:ext>
            </a:extLst>
          </p:cNvPr>
          <p:cNvSpPr txBox="1"/>
          <p:nvPr/>
        </p:nvSpPr>
        <p:spPr>
          <a:xfrm>
            <a:off x="284480" y="254000"/>
            <a:ext cx="1147063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 </a:t>
            </a:r>
            <a:r>
              <a:rPr lang="en-IN" sz="2800" dirty="0">
                <a:latin typeface="Algerian" panose="04020705040A02060702" pitchFamily="82" charset="0"/>
              </a:rPr>
              <a:t>Skills Demonstrated</a:t>
            </a:r>
            <a:endParaRPr lang="en-IN" dirty="0">
              <a:latin typeface="Algerian" panose="04020705040A02060702" pitchFamily="82" charset="0"/>
            </a:endParaRPr>
          </a:p>
          <a:p>
            <a:endParaRPr lang="en-IN" dirty="0"/>
          </a:p>
          <a:p>
            <a:r>
              <a:rPr lang="en-IN" dirty="0"/>
              <a:t>Excel Skills</a:t>
            </a:r>
          </a:p>
          <a:p>
            <a:endParaRPr lang="en-IN" dirty="0"/>
          </a:p>
          <a:p>
            <a:r>
              <a:rPr lang="en-IN" dirty="0"/>
              <a:t>• Pivot Tables</a:t>
            </a:r>
          </a:p>
          <a:p>
            <a:r>
              <a:rPr lang="en-IN" dirty="0"/>
              <a:t>• Pivot Charts</a:t>
            </a:r>
          </a:p>
          <a:p>
            <a:r>
              <a:rPr lang="en-IN" dirty="0"/>
              <a:t>• Slicers</a:t>
            </a:r>
          </a:p>
          <a:p>
            <a:r>
              <a:rPr lang="en-IN" dirty="0"/>
              <a:t>• Conditional Formatting</a:t>
            </a:r>
          </a:p>
          <a:p>
            <a:r>
              <a:rPr lang="en-IN" dirty="0"/>
              <a:t>• Data Cleaning</a:t>
            </a:r>
          </a:p>
          <a:p>
            <a:endParaRPr lang="en-IN" dirty="0"/>
          </a:p>
          <a:p>
            <a:r>
              <a:rPr lang="en-IN" dirty="0"/>
              <a:t>Analytics Skills</a:t>
            </a:r>
          </a:p>
          <a:p>
            <a:endParaRPr lang="en-IN" dirty="0"/>
          </a:p>
          <a:p>
            <a:r>
              <a:rPr lang="en-IN" dirty="0"/>
              <a:t>• KPI Development</a:t>
            </a:r>
          </a:p>
          <a:p>
            <a:r>
              <a:rPr lang="en-IN" dirty="0"/>
              <a:t>• Sales Analysis</a:t>
            </a:r>
          </a:p>
          <a:p>
            <a:r>
              <a:rPr lang="en-IN" dirty="0"/>
              <a:t>• Profitability Analysis</a:t>
            </a:r>
          </a:p>
          <a:p>
            <a:r>
              <a:rPr lang="en-IN" dirty="0"/>
              <a:t>• Customer Analysis</a:t>
            </a:r>
          </a:p>
          <a:p>
            <a:r>
              <a:rPr lang="en-IN" dirty="0"/>
              <a:t>• Dashboard Design</a:t>
            </a:r>
          </a:p>
        </p:txBody>
      </p:sp>
    </p:spTree>
    <p:extLst>
      <p:ext uri="{BB962C8B-B14F-4D97-AF65-F5344CB8AC3E}">
        <p14:creationId xmlns:p14="http://schemas.microsoft.com/office/powerpoint/2010/main" val="1664090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</TotalTime>
  <Words>615</Words>
  <Application>Microsoft Office PowerPoint</Application>
  <PresentationFormat>Widescreen</PresentationFormat>
  <Paragraphs>177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LAPTOP</dc:creator>
  <cp:lastModifiedBy>HP LAPTOP</cp:lastModifiedBy>
  <cp:revision>1</cp:revision>
  <dcterms:created xsi:type="dcterms:W3CDTF">2026-06-20T18:18:08Z</dcterms:created>
  <dcterms:modified xsi:type="dcterms:W3CDTF">2026-06-21T17:14:26Z</dcterms:modified>
</cp:coreProperties>
</file>